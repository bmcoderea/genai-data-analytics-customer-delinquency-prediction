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66" r:id="rId4"/>
    <p:sldId id="26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3FE149-D13D-46FF-8FF9-D9E59BF73F7E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95478E-EBDF-4257-99F7-B8E7F956D7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341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95478E-EBDF-4257-99F7-B8E7F956D793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403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A5B0847-A2E2-4333-B001-7953FF4435CA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E61C8B8-BDE7-411D-B10B-0989184459A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18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0847-A2E2-4333-B001-7953FF4435CA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1C8B8-BDE7-411D-B10B-0989184459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843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0847-A2E2-4333-B001-7953FF4435CA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1C8B8-BDE7-411D-B10B-0989184459A5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718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0847-A2E2-4333-B001-7953FF4435CA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1C8B8-BDE7-411D-B10B-0989184459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826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0847-A2E2-4333-B001-7953FF4435CA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1C8B8-BDE7-411D-B10B-0989184459A5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3659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0847-A2E2-4333-B001-7953FF4435CA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1C8B8-BDE7-411D-B10B-0989184459A5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02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0847-A2E2-4333-B001-7953FF4435CA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1C8B8-BDE7-411D-B10B-0989184459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493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0847-A2E2-4333-B001-7953FF4435CA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1C8B8-BDE7-411D-B10B-0989184459A5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2678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0847-A2E2-4333-B001-7953FF4435CA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1C8B8-BDE7-411D-B10B-0989184459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745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0847-A2E2-4333-B001-7953FF4435CA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1C8B8-BDE7-411D-B10B-0989184459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143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0847-A2E2-4333-B001-7953FF4435CA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1C8B8-BDE7-411D-B10B-0989184459A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63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0847-A2E2-4333-B001-7953FF4435CA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1C8B8-BDE7-411D-B10B-0989184459A5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0826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0847-A2E2-4333-B001-7953FF4435CA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1C8B8-BDE7-411D-B10B-0989184459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5868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0847-A2E2-4333-B001-7953FF4435CA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1C8B8-BDE7-411D-B10B-0989184459A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9819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0847-A2E2-4333-B001-7953FF4435CA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1C8B8-BDE7-411D-B10B-0989184459A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354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0847-A2E2-4333-B001-7953FF4435CA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1C8B8-BDE7-411D-B10B-0989184459A5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170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B0847-A2E2-4333-B001-7953FF4435CA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1C8B8-BDE7-411D-B10B-0989184459A5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507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A5B0847-A2E2-4333-B001-7953FF4435CA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E61C8B8-BDE7-411D-B10B-0989184459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046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3;p13">
            <a:extLst>
              <a:ext uri="{FF2B5EF4-FFF2-40B4-BE49-F238E27FC236}">
                <a16:creationId xmlns:a16="http://schemas.microsoft.com/office/drawing/2014/main" id="{EB72842A-66BA-4939-80D1-910264A1F49C}"/>
              </a:ext>
            </a:extLst>
          </p:cNvPr>
          <p:cNvSpPr txBox="1">
            <a:spLocks/>
          </p:cNvSpPr>
          <p:nvPr/>
        </p:nvSpPr>
        <p:spPr>
          <a:xfrm>
            <a:off x="3391114" y="1424899"/>
            <a:ext cx="5783400" cy="1457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IN" sz="3000" b="1" dirty="0"/>
              <a:t>AI-Powered Collections Strategy</a:t>
            </a:r>
            <a:endParaRPr lang="en-IN" sz="3000" dirty="0"/>
          </a:p>
        </p:txBody>
      </p:sp>
      <p:sp>
        <p:nvSpPr>
          <p:cNvPr id="5" name="Google Shape;64;p13">
            <a:extLst>
              <a:ext uri="{FF2B5EF4-FFF2-40B4-BE49-F238E27FC236}">
                <a16:creationId xmlns:a16="http://schemas.microsoft.com/office/drawing/2014/main" id="{6DBBEE1E-7072-A65B-578B-0601D903F0E4}"/>
              </a:ext>
            </a:extLst>
          </p:cNvPr>
          <p:cNvSpPr txBox="1">
            <a:spLocks/>
          </p:cNvSpPr>
          <p:nvPr/>
        </p:nvSpPr>
        <p:spPr>
          <a:xfrm>
            <a:off x="3204300" y="3517732"/>
            <a:ext cx="5783400" cy="909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dirty="0"/>
              <a:t>Leveraging Agentic AI for Scalable, Fair, and Effective Debt Management at </a:t>
            </a:r>
            <a:r>
              <a:rPr lang="en-US" dirty="0" err="1"/>
              <a:t>Geldium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BD0CA0-05BA-AEC3-5BE0-68E4D1E1C550}"/>
              </a:ext>
            </a:extLst>
          </p:cNvPr>
          <p:cNvCxnSpPr/>
          <p:nvPr/>
        </p:nvCxnSpPr>
        <p:spPr>
          <a:xfrm>
            <a:off x="3185652" y="1827837"/>
            <a:ext cx="16419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86DD2D-24A9-DB56-4509-0EFC12BA249F}"/>
              </a:ext>
            </a:extLst>
          </p:cNvPr>
          <p:cNvCxnSpPr/>
          <p:nvPr/>
        </p:nvCxnSpPr>
        <p:spPr>
          <a:xfrm>
            <a:off x="3185652" y="1818005"/>
            <a:ext cx="0" cy="12486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93871C-E83C-1E72-B140-C0975B21D552}"/>
              </a:ext>
            </a:extLst>
          </p:cNvPr>
          <p:cNvCxnSpPr/>
          <p:nvPr/>
        </p:nvCxnSpPr>
        <p:spPr>
          <a:xfrm>
            <a:off x="7973961" y="5088193"/>
            <a:ext cx="16419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13D8A0-3570-18E7-0C3B-180D2BF20B88}"/>
              </a:ext>
            </a:extLst>
          </p:cNvPr>
          <p:cNvCxnSpPr/>
          <p:nvPr/>
        </p:nvCxnSpPr>
        <p:spPr>
          <a:xfrm>
            <a:off x="9615948" y="3839496"/>
            <a:ext cx="0" cy="12486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0343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ABB813-87F1-EC4A-9C76-704ABEF3AE4E}"/>
              </a:ext>
            </a:extLst>
          </p:cNvPr>
          <p:cNvSpPr txBox="1"/>
          <p:nvPr/>
        </p:nvSpPr>
        <p:spPr>
          <a:xfrm>
            <a:off x="1307689" y="768732"/>
            <a:ext cx="872121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Delinquency Management System Workflow</a:t>
            </a:r>
          </a:p>
          <a:p>
            <a:r>
              <a:rPr lang="en-IN" sz="3600" b="1" dirty="0"/>
              <a:t>1. Customer Data (Input)</a:t>
            </a:r>
          </a:p>
          <a:p>
            <a:r>
              <a:rPr lang="en-IN" sz="3600" dirty="0"/>
              <a:t>⬇️</a:t>
            </a:r>
          </a:p>
          <a:p>
            <a:r>
              <a:rPr lang="en-IN" sz="3600" b="1" dirty="0"/>
              <a:t>2. Risk Assessment (Decision-Making)</a:t>
            </a:r>
            <a:endParaRPr lang="en-IN" sz="3600" dirty="0"/>
          </a:p>
          <a:p>
            <a:r>
              <a:rPr lang="en-IN" sz="3600" dirty="0"/>
              <a:t>⬇️</a:t>
            </a:r>
          </a:p>
          <a:p>
            <a:r>
              <a:rPr lang="en-IN" sz="3600" b="1" dirty="0"/>
              <a:t>3. Automated Actions</a:t>
            </a:r>
            <a:endParaRPr lang="en-IN" sz="3600" dirty="0"/>
          </a:p>
          <a:p>
            <a:r>
              <a:rPr lang="en-IN" sz="3600" dirty="0"/>
              <a:t>⬇️</a:t>
            </a:r>
          </a:p>
          <a:p>
            <a:r>
              <a:rPr lang="en-IN" sz="3600" b="1" dirty="0"/>
              <a:t>4. Learning &amp; Improvement Loop</a:t>
            </a:r>
          </a:p>
        </p:txBody>
      </p:sp>
    </p:spTree>
    <p:extLst>
      <p:ext uri="{BB962C8B-B14F-4D97-AF65-F5344CB8AC3E}">
        <p14:creationId xmlns:p14="http://schemas.microsoft.com/office/powerpoint/2010/main" val="1939140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32E017-98B2-9C0F-118F-D04921D7CE0F}"/>
              </a:ext>
            </a:extLst>
          </p:cNvPr>
          <p:cNvSpPr txBox="1"/>
          <p:nvPr/>
        </p:nvSpPr>
        <p:spPr>
          <a:xfrm>
            <a:off x="1076633" y="1563328"/>
            <a:ext cx="1023538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1. Customer Data (Input)</a:t>
            </a:r>
          </a:p>
          <a:p>
            <a:r>
              <a:rPr lang="en-IN" sz="2400" dirty="0"/>
              <a:t>Collect customer information from </a:t>
            </a:r>
            <a:r>
              <a:rPr lang="en-IN" sz="2400" dirty="0" err="1"/>
              <a:t>Geldium's</a:t>
            </a:r>
            <a:r>
              <a:rPr lang="en-IN" sz="2400" dirty="0"/>
              <a:t> database.</a:t>
            </a:r>
          </a:p>
          <a:p>
            <a:r>
              <a:rPr lang="en-IN" sz="2400" dirty="0"/>
              <a:t>Key inputs include Credit Score, Income, Loan Balance, Credit Utilization, Debt-to-Income Ratio, Account Tenure, and Payment History.</a:t>
            </a:r>
          </a:p>
          <a:p>
            <a:r>
              <a:rPr lang="en-IN" sz="2400" dirty="0"/>
              <a:t>Historical delinquency data is also used for analysis.</a:t>
            </a:r>
          </a:p>
          <a:p>
            <a:endParaRPr lang="en-IN" sz="2400" dirty="0"/>
          </a:p>
          <a:p>
            <a:r>
              <a:rPr lang="en-IN" sz="2400" b="1" dirty="0"/>
              <a:t>2. Risk Assessment (Decision-Making)</a:t>
            </a:r>
          </a:p>
          <a:p>
            <a:r>
              <a:rPr lang="en-IN" sz="2400" dirty="0"/>
              <a:t>AI </a:t>
            </a:r>
            <a:r>
              <a:rPr lang="en-IN" sz="2400" dirty="0" err="1"/>
              <a:t>analyzes</a:t>
            </a:r>
            <a:r>
              <a:rPr lang="en-IN" sz="2400" dirty="0"/>
              <a:t> customer financial and </a:t>
            </a:r>
            <a:r>
              <a:rPr lang="en-IN" sz="2400" dirty="0" err="1"/>
              <a:t>behavioral</a:t>
            </a:r>
            <a:r>
              <a:rPr lang="en-IN" sz="2400" dirty="0"/>
              <a:t> data.</a:t>
            </a:r>
          </a:p>
          <a:p>
            <a:r>
              <a:rPr lang="en-IN" sz="2400" dirty="0"/>
              <a:t>The system identifies risk patterns such as missed payments, low credit scores, and high credit utilization.</a:t>
            </a:r>
          </a:p>
          <a:p>
            <a:r>
              <a:rPr lang="en-IN" sz="2400" dirty="0"/>
              <a:t>Each customer receives a Low, Medium, or High-Risk delinquency score.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8898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ACC2A-C7A4-4596-8580-F878F29108DB}"/>
              </a:ext>
            </a:extLst>
          </p:cNvPr>
          <p:cNvSpPr txBox="1"/>
          <p:nvPr/>
        </p:nvSpPr>
        <p:spPr>
          <a:xfrm>
            <a:off x="1140542" y="1397674"/>
            <a:ext cx="9026013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3. Automated Actions</a:t>
            </a:r>
          </a:p>
          <a:p>
            <a:r>
              <a:rPr lang="en-IN" sz="2400" dirty="0"/>
              <a:t>Low Risk → Continue standard monitoring.</a:t>
            </a:r>
          </a:p>
          <a:p>
            <a:r>
              <a:rPr lang="en-IN" sz="2400" dirty="0"/>
              <a:t>Medium Risk → Send payment reminders and financial guidance.</a:t>
            </a:r>
          </a:p>
          <a:p>
            <a:r>
              <a:rPr lang="en-IN" sz="2400" dirty="0"/>
              <a:t>High Risk → Trigger early intervention and collections review.</a:t>
            </a:r>
          </a:p>
          <a:p>
            <a:r>
              <a:rPr lang="en-IN" sz="2400" dirty="0"/>
              <a:t>High-priority cases are escalated to human agents when necessary.</a:t>
            </a:r>
          </a:p>
          <a:p>
            <a:endParaRPr lang="en-IN" sz="2400" dirty="0"/>
          </a:p>
          <a:p>
            <a:r>
              <a:rPr lang="en-IN" sz="2400" b="1" dirty="0"/>
              <a:t>4. Learning &amp; Improvement Loop</a:t>
            </a:r>
          </a:p>
          <a:p>
            <a:r>
              <a:rPr lang="en-IN" sz="2400" dirty="0"/>
              <a:t>Track customer repayment outcomes.</a:t>
            </a:r>
          </a:p>
          <a:p>
            <a:r>
              <a:rPr lang="en-IN" sz="2400" dirty="0"/>
              <a:t>Compare actual outcomes with model predictions.</a:t>
            </a:r>
          </a:p>
          <a:p>
            <a:r>
              <a:rPr lang="en-IN" sz="2400" dirty="0"/>
              <a:t>Update and improve the AI model using new customer data.</a:t>
            </a:r>
          </a:p>
          <a:p>
            <a:r>
              <a:rPr lang="en-IN" sz="2400" dirty="0"/>
              <a:t>Continuously refine risk detection and intervention strategies.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8620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91CA92-2276-57A2-7B5A-8DA027319B77}"/>
              </a:ext>
            </a:extLst>
          </p:cNvPr>
          <p:cNvSpPr txBox="1"/>
          <p:nvPr/>
        </p:nvSpPr>
        <p:spPr>
          <a:xfrm>
            <a:off x="3805084" y="1927123"/>
            <a:ext cx="458183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Customer Data</a:t>
            </a:r>
          </a:p>
          <a:p>
            <a:pPr algn="ctr"/>
            <a:r>
              <a:rPr lang="en-US" sz="2800" dirty="0"/>
              <a:t>      ↓</a:t>
            </a:r>
          </a:p>
          <a:p>
            <a:pPr algn="ctr"/>
            <a:r>
              <a:rPr lang="en-US" sz="2800" dirty="0"/>
              <a:t>AI Risk Assessment</a:t>
            </a:r>
          </a:p>
          <a:p>
            <a:pPr algn="ctr"/>
            <a:r>
              <a:rPr lang="en-US" sz="2800" dirty="0"/>
              <a:t>      ↓</a:t>
            </a:r>
          </a:p>
          <a:p>
            <a:pPr algn="ctr"/>
            <a:r>
              <a:rPr lang="en-US" sz="2800" dirty="0"/>
              <a:t>Recommended Actions</a:t>
            </a:r>
          </a:p>
          <a:p>
            <a:pPr algn="ctr"/>
            <a:r>
              <a:rPr lang="en-US" sz="2800" dirty="0"/>
              <a:t>      ↓</a:t>
            </a:r>
          </a:p>
          <a:p>
            <a:pPr algn="ctr"/>
            <a:r>
              <a:rPr lang="en-US" sz="2800" dirty="0"/>
              <a:t>Learning &amp; Feedback Loop</a:t>
            </a:r>
          </a:p>
          <a:p>
            <a:pPr algn="ctr"/>
            <a:r>
              <a:rPr lang="en-US" sz="2800" dirty="0"/>
              <a:t>      ↺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10A9D2-0165-34C7-6125-C8C7840E6CAD}"/>
              </a:ext>
            </a:extLst>
          </p:cNvPr>
          <p:cNvSpPr txBox="1"/>
          <p:nvPr/>
        </p:nvSpPr>
        <p:spPr>
          <a:xfrm>
            <a:off x="3657599" y="1155472"/>
            <a:ext cx="5456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Simple Visual Flow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4031248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C5218FE-8C3E-7254-B879-D9AE59A5C7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960996"/>
              </p:ext>
            </p:extLst>
          </p:nvPr>
        </p:nvGraphicFramePr>
        <p:xfrm>
          <a:off x="2561303" y="1396911"/>
          <a:ext cx="7069394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4697">
                  <a:extLst>
                    <a:ext uri="{9D8B030D-6E8A-4147-A177-3AD203B41FA5}">
                      <a16:colId xmlns:a16="http://schemas.microsoft.com/office/drawing/2014/main" val="772823066"/>
                    </a:ext>
                  </a:extLst>
                </a:gridCol>
                <a:gridCol w="3534697">
                  <a:extLst>
                    <a:ext uri="{9D8B030D-6E8A-4147-A177-3AD203B41FA5}">
                      <a16:colId xmlns:a16="http://schemas.microsoft.com/office/drawing/2014/main" val="1890283590"/>
                    </a:ext>
                  </a:extLst>
                </a:gridCol>
              </a:tblGrid>
              <a:tr h="584289">
                <a:tc>
                  <a:txBody>
                    <a:bodyPr/>
                    <a:lstStyle/>
                    <a:p>
                      <a:r>
                        <a:rPr lang="en-IN" dirty="0"/>
                        <a:t>Autonomous (AI-Driven Activities)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Human Oversight (Human-in-the-Loop Activities)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226989"/>
                  </a:ext>
                </a:extLst>
              </a:tr>
              <a:tr h="570524">
                <a:tc>
                  <a:txBody>
                    <a:bodyPr/>
                    <a:lstStyle/>
                    <a:p>
                      <a:r>
                        <a:rPr lang="en-IN" dirty="0"/>
                        <a:t>Continuously monitor customer accounts and payment </a:t>
                      </a:r>
                      <a:r>
                        <a:rPr lang="en-IN" dirty="0" err="1"/>
                        <a:t>behavior</a:t>
                      </a:r>
                      <a:r>
                        <a:rPr lang="en-IN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Review high-risk customer cases before major actions are taken.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011363"/>
                  </a:ext>
                </a:extLst>
              </a:tr>
              <a:tr h="624467">
                <a:tc>
                  <a:txBody>
                    <a:bodyPr/>
                    <a:lstStyle/>
                    <a:p>
                      <a:r>
                        <a:rPr lang="en-IN" dirty="0" err="1"/>
                        <a:t>Analyze</a:t>
                      </a:r>
                      <a:r>
                        <a:rPr lang="en-IN" dirty="0"/>
                        <a:t> customer data and calculate delinquency risk scores.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Approve collections strategies and intervention plans.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155957"/>
                  </a:ext>
                </a:extLst>
              </a:tr>
              <a:tr h="652731">
                <a:tc>
                  <a:txBody>
                    <a:bodyPr/>
                    <a:lstStyle/>
                    <a:p>
                      <a:r>
                        <a:rPr lang="en-IN" dirty="0"/>
                        <a:t>Detect early warning signs such as missed payments and high credit utilization.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Investigate unusual or unexpected model predictions.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320911"/>
                  </a:ext>
                </a:extLst>
              </a:tr>
              <a:tr h="624467">
                <a:tc>
                  <a:txBody>
                    <a:bodyPr/>
                    <a:lstStyle/>
                    <a:p>
                      <a:r>
                        <a:rPr lang="en-IN" dirty="0"/>
                        <a:t>Generate automated payment reminders and risk alerts.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Monitor model fairness, compliance, and ethical considerations.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266196"/>
                  </a:ext>
                </a:extLst>
              </a:tr>
              <a:tr h="570524">
                <a:tc>
                  <a:txBody>
                    <a:bodyPr/>
                    <a:lstStyle/>
                    <a:p>
                      <a:r>
                        <a:rPr lang="en-IN" dirty="0"/>
                        <a:t>Prioritize customers based on predicted delinquency risk.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Adjust business rules and risk thresholds when needed.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145337"/>
                  </a:ext>
                </a:extLst>
              </a:tr>
              <a:tr h="624467">
                <a:tc>
                  <a:txBody>
                    <a:bodyPr/>
                    <a:lstStyle/>
                    <a:p>
                      <a:r>
                        <a:rPr lang="en-IN" dirty="0"/>
                        <a:t>Learn from new repayment data to improve future predictions.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Validate model performance and ensure regulatory compliance.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160670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78D6662-9BAD-1DAA-3782-34330AD70842}"/>
              </a:ext>
            </a:extLst>
          </p:cNvPr>
          <p:cNvSpPr txBox="1"/>
          <p:nvPr/>
        </p:nvSpPr>
        <p:spPr>
          <a:xfrm>
            <a:off x="4050890" y="706209"/>
            <a:ext cx="5093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Role of Agentic AI</a:t>
            </a:r>
          </a:p>
        </p:txBody>
      </p:sp>
    </p:spTree>
    <p:extLst>
      <p:ext uri="{BB962C8B-B14F-4D97-AF65-F5344CB8AC3E}">
        <p14:creationId xmlns:p14="http://schemas.microsoft.com/office/powerpoint/2010/main" val="4283041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239985-F9F9-07AC-B7AF-47E6CC24AC70}"/>
              </a:ext>
            </a:extLst>
          </p:cNvPr>
          <p:cNvSpPr txBox="1"/>
          <p:nvPr/>
        </p:nvSpPr>
        <p:spPr>
          <a:xfrm>
            <a:off x="3421625" y="619432"/>
            <a:ext cx="5545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Responsible AI Guardrails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B6E38E-79FA-D55C-761D-8217876F597B}"/>
              </a:ext>
            </a:extLst>
          </p:cNvPr>
          <p:cNvSpPr txBox="1"/>
          <p:nvPr/>
        </p:nvSpPr>
        <p:spPr>
          <a:xfrm>
            <a:off x="1012722" y="1354253"/>
            <a:ext cx="9989575" cy="5043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Fairness &amp; Bias Monitoring</a:t>
            </a:r>
            <a:r>
              <a:rPr lang="en-IN" sz="2400" dirty="0"/>
              <a:t> – Regularly test the model across different customer groups to identify and reduce potential bias in predictions.</a:t>
            </a:r>
          </a:p>
          <a:p>
            <a:r>
              <a:rPr lang="en-IN" sz="2400" dirty="0"/>
              <a:t> </a:t>
            </a:r>
            <a:r>
              <a:rPr lang="en-IN" sz="2400" b="1" dirty="0"/>
              <a:t>Explainable Decisions</a:t>
            </a:r>
            <a:r>
              <a:rPr lang="en-IN" sz="2400" dirty="0"/>
              <a:t> – Provide clear explanations for risk scores using factors such as missed payments, credit utilization, and credit score.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 </a:t>
            </a:r>
            <a:r>
              <a:rPr lang="en-IN" sz="2400" b="1" dirty="0"/>
              <a:t>Human Oversight</a:t>
            </a:r>
            <a:r>
              <a:rPr lang="en-IN" sz="2400" dirty="0"/>
              <a:t> – Require human review and approval for high-impact decisions such as collections escalation or account restrictions.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Privacy &amp; Regulatory Compliance</a:t>
            </a:r>
            <a:r>
              <a:rPr lang="en-IN" sz="2400" dirty="0"/>
              <a:t> – Protect customer data through secure data handling practices and ensure compliance with financial regulations and company policies.</a:t>
            </a:r>
          </a:p>
          <a:p>
            <a:endParaRPr lang="en-IN" sz="2400" dirty="0"/>
          </a:p>
          <a:p>
            <a:r>
              <a:rPr lang="en-IN" sz="2400" dirty="0"/>
              <a:t>These guardrails ensure that the AI system remains fair, transparent, accountable, and aligned with regulatory and ethical standards while supporting better delinquency management decisions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3645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7E340D-DEC2-6E73-6612-81D861735507}"/>
              </a:ext>
            </a:extLst>
          </p:cNvPr>
          <p:cNvSpPr txBox="1"/>
          <p:nvPr/>
        </p:nvSpPr>
        <p:spPr>
          <a:xfrm>
            <a:off x="3711678" y="832741"/>
            <a:ext cx="5471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Expected Business Impact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9B2E46-5272-0156-D99E-8E38E7A44C4A}"/>
              </a:ext>
            </a:extLst>
          </p:cNvPr>
          <p:cNvSpPr txBox="1"/>
          <p:nvPr/>
        </p:nvSpPr>
        <p:spPr>
          <a:xfrm>
            <a:off x="958645" y="1956619"/>
            <a:ext cx="1027471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Business KPIs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Reduced Delinquency Rate</a:t>
            </a:r>
            <a:r>
              <a:rPr lang="en-IN" sz="2400" dirty="0"/>
              <a:t> – Early identification of high-risk customers helps prevent missed payments and defaults.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Improved Collection Recovery Rate</a:t>
            </a:r>
            <a:r>
              <a:rPr lang="en-IN" sz="2400" dirty="0"/>
              <a:t> – Collections teams can focus on the highest-risk accounts, increasing recovery efficiency.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Lower Operational Costs</a:t>
            </a:r>
            <a:r>
              <a:rPr lang="en-IN" sz="2400" dirty="0"/>
              <a:t> – Automation reduces manual monitoring and repetitive collection activities.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Improved Portfolio Quality</a:t>
            </a:r>
            <a:r>
              <a:rPr lang="en-IN" sz="2400" dirty="0"/>
              <a:t> – Better risk management leads to healthier loan performance and reduced credit losses.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7873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970129-C593-38AA-B17A-F96F6AFC3327}"/>
              </a:ext>
            </a:extLst>
          </p:cNvPr>
          <p:cNvSpPr txBox="1"/>
          <p:nvPr/>
        </p:nvSpPr>
        <p:spPr>
          <a:xfrm>
            <a:off x="1302774" y="843677"/>
            <a:ext cx="9232491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Customer 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Proactive Financial Support</a:t>
            </a:r>
            <a:r>
              <a:rPr lang="en-IN" sz="2400" dirty="0"/>
              <a:t> – Customers receive reminders and guidance before repayment issues become severe.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Better Customer Experience</a:t>
            </a:r>
            <a:r>
              <a:rPr lang="en-IN" sz="2400" dirty="0"/>
              <a:t> – Personalized interventions reduce unnecessary collection actions and improve engagement.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Fairer Decision-Making</a:t>
            </a:r>
            <a:r>
              <a:rPr lang="en-IN" sz="2400" dirty="0"/>
              <a:t> – Explainable AI and human oversight help ensure consistent and unbiased treatment.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Scalable Service Delivery</a:t>
            </a:r>
            <a:r>
              <a:rPr lang="en-IN" sz="2400" dirty="0"/>
              <a:t> – The system can support a growing customer base while maintaining service quality.</a:t>
            </a:r>
          </a:p>
          <a:p>
            <a:endParaRPr lang="en-IN" sz="2400" dirty="0"/>
          </a:p>
          <a:p>
            <a:r>
              <a:rPr lang="en-IN" sz="2400" dirty="0"/>
              <a:t>By combining predictive analytics, automation, and responsible AI practices, the proposed system can reduce delinquency, improve collection efficiency, enhance customer experience, and support scalable growth for </a:t>
            </a:r>
            <a:r>
              <a:rPr lang="en-IN" sz="2400" dirty="0" err="1"/>
              <a:t>Geldium</a:t>
            </a:r>
            <a:r>
              <a:rPr lang="en-IN" sz="24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5875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02075A-F46A-0797-B70D-713F3CA7B722}"/>
              </a:ext>
            </a:extLst>
          </p:cNvPr>
          <p:cNvSpPr txBox="1"/>
          <p:nvPr/>
        </p:nvSpPr>
        <p:spPr>
          <a:xfrm>
            <a:off x="3185650" y="1130711"/>
            <a:ext cx="6115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Customer Risk Segmentation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C2BA461-701B-A715-A5CC-472DDDD56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893367"/>
              </p:ext>
            </p:extLst>
          </p:nvPr>
        </p:nvGraphicFramePr>
        <p:xfrm>
          <a:off x="1933677" y="2341988"/>
          <a:ext cx="8127999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84109781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1542833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5678034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Risk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Characteristics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Recommended Action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1839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Low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Good credit score, no missed payments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Routine monitoring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3224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Medium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Moderate utilization, occasional late payments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Payment reminders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910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Multiple missed payments, low credit score, high utilization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Early intervention and collections review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103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37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BF41AF-44B0-237F-85E3-CB49145D307F}"/>
              </a:ext>
            </a:extLst>
          </p:cNvPr>
          <p:cNvSpPr txBox="1"/>
          <p:nvPr/>
        </p:nvSpPr>
        <p:spPr>
          <a:xfrm>
            <a:off x="1209367" y="1553496"/>
            <a:ext cx="6853083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Phase 1: Data Preparation</a:t>
            </a:r>
          </a:p>
          <a:p>
            <a:r>
              <a:rPr lang="en-IN" sz="2400" dirty="0"/>
              <a:t>Collect and clean customer data. </a:t>
            </a:r>
          </a:p>
          <a:p>
            <a:r>
              <a:rPr lang="en-IN" sz="2400" dirty="0"/>
              <a:t>Standardize variables and handle missing values. </a:t>
            </a:r>
          </a:p>
          <a:p>
            <a:r>
              <a:rPr lang="en-IN" sz="2400" b="1" dirty="0"/>
              <a:t>Phase 2: Model Development</a:t>
            </a:r>
          </a:p>
          <a:p>
            <a:r>
              <a:rPr lang="en-IN" sz="2400" dirty="0"/>
              <a:t>Build delinquency prediction model. </a:t>
            </a:r>
          </a:p>
          <a:p>
            <a:r>
              <a:rPr lang="en-IN" sz="2400" dirty="0"/>
              <a:t>Validate accuracy and fairness. </a:t>
            </a:r>
          </a:p>
          <a:p>
            <a:r>
              <a:rPr lang="en-IN" sz="2400" b="1" dirty="0"/>
              <a:t>Phase 3: Pilot Deployment</a:t>
            </a:r>
          </a:p>
          <a:p>
            <a:r>
              <a:rPr lang="en-IN" sz="2400" dirty="0"/>
              <a:t>Test with a limited customer segment. </a:t>
            </a:r>
          </a:p>
          <a:p>
            <a:r>
              <a:rPr lang="en-IN" sz="2400" dirty="0"/>
              <a:t>Monitor performance and feedback. </a:t>
            </a:r>
          </a:p>
          <a:p>
            <a:r>
              <a:rPr lang="en-IN" sz="2400" b="1" dirty="0"/>
              <a:t>Phase 4: Full Rollout</a:t>
            </a:r>
          </a:p>
          <a:p>
            <a:r>
              <a:rPr lang="en-IN" sz="2400" dirty="0"/>
              <a:t>Deploy across all customer accounts. </a:t>
            </a:r>
          </a:p>
          <a:p>
            <a:r>
              <a:rPr lang="en-IN" sz="2400" dirty="0"/>
              <a:t>Establish ongoing monitoring and governance.</a:t>
            </a:r>
          </a:p>
          <a:p>
            <a:endParaRPr lang="en-IN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9A743B-32AD-ADB9-9814-6613CCC0AEF0}"/>
              </a:ext>
            </a:extLst>
          </p:cNvPr>
          <p:cNvSpPr txBox="1"/>
          <p:nvPr/>
        </p:nvSpPr>
        <p:spPr>
          <a:xfrm>
            <a:off x="3932903" y="737419"/>
            <a:ext cx="5919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Implementation</a:t>
            </a:r>
            <a:r>
              <a:rPr lang="en-IN" sz="3600" dirty="0"/>
              <a:t> Roadmap</a:t>
            </a:r>
          </a:p>
        </p:txBody>
      </p:sp>
    </p:spTree>
    <p:extLst>
      <p:ext uri="{BB962C8B-B14F-4D97-AF65-F5344CB8AC3E}">
        <p14:creationId xmlns:p14="http://schemas.microsoft.com/office/powerpoint/2010/main" val="2330914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D5C12EC-FE74-17A5-D58D-7BABD6C37441}"/>
              </a:ext>
            </a:extLst>
          </p:cNvPr>
          <p:cNvSpPr txBox="1"/>
          <p:nvPr/>
        </p:nvSpPr>
        <p:spPr>
          <a:xfrm>
            <a:off x="4621162" y="943896"/>
            <a:ext cx="4955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9A4815-AC2D-07C0-D73D-CF2C86181680}"/>
              </a:ext>
            </a:extLst>
          </p:cNvPr>
          <p:cNvSpPr txBox="1"/>
          <p:nvPr/>
        </p:nvSpPr>
        <p:spPr>
          <a:xfrm>
            <a:off x="993058" y="1789471"/>
            <a:ext cx="1012722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Agentic AI enables proactive delinquency management.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High-risk customers can be identified earlier.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 Automated interventions improve collection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 Human oversight ensures fairness, transparency, and compliance.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 The solution supports </a:t>
            </a:r>
            <a:r>
              <a:rPr lang="en-IN" sz="3200" dirty="0" err="1"/>
              <a:t>Geldium's</a:t>
            </a:r>
            <a:r>
              <a:rPr lang="en-IN" sz="3200" dirty="0"/>
              <a:t> goal of reducing delinquency while improving customer outcomes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42920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53</TotalTime>
  <Words>813</Words>
  <Application>Microsoft Office PowerPoint</Application>
  <PresentationFormat>Widescreen</PresentationFormat>
  <Paragraphs>107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Garamond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Bijaya Munshi</dc:creator>
  <cp:lastModifiedBy>Bijaya Munshi</cp:lastModifiedBy>
  <cp:revision>2</cp:revision>
  <dcterms:created xsi:type="dcterms:W3CDTF">2026-06-07T16:41:11Z</dcterms:created>
  <dcterms:modified xsi:type="dcterms:W3CDTF">2026-06-08T16:20:58Z</dcterms:modified>
</cp:coreProperties>
</file>